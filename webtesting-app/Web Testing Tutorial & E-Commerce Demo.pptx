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5fd6631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5fd6631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5fd6631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5fd6631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fd6631e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fd6631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5fd6631e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5fd6631e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5fd6631e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5fd6631e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5fd6631e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5fd6631e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5fd6631e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5fd6631e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5fd6631e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5fd6631e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5fd6631e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5fd6631e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5fd6631e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5fd6631e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5fd6631e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5fd6631e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fd6631e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5fd6631e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fd6631e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5fd6631e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fd6631e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5fd6631e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46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9900"/>
                </a:highlight>
              </a:rPr>
              <a:t>Web Testing Tutorial &amp; E-Commerce Demo</a:t>
            </a:r>
            <a:endParaRPr>
              <a:solidFill>
                <a:srgbClr val="000000"/>
              </a:solidFill>
              <a:highlight>
                <a:srgbClr val="FF9900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51500" y="2299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Course -</a:t>
            </a:r>
            <a:r>
              <a:rPr b="1" lang="en" sz="2200">
                <a:solidFill>
                  <a:schemeClr val="dk1"/>
                </a:solidFill>
              </a:rPr>
              <a:t>SER598 Web Based Applications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50850" y="3092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220">
                <a:solidFill>
                  <a:schemeClr val="dk1"/>
                </a:solidFill>
              </a:rPr>
              <a:t>Team Members : </a:t>
            </a:r>
            <a:endParaRPr b="1" sz="122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AutoNum type="arabicPeriod"/>
            </a:pPr>
            <a:r>
              <a:rPr lang="en" sz="1120">
                <a:solidFill>
                  <a:schemeClr val="dk1"/>
                </a:solidFill>
              </a:rPr>
              <a:t>Yashwanth Sundhar Sundaramoorthy</a:t>
            </a:r>
            <a:endParaRPr sz="11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AutoNum type="arabicPeriod"/>
            </a:pPr>
            <a:r>
              <a:rPr lang="en" sz="1150">
                <a:solidFill>
                  <a:srgbClr val="1D1C1D"/>
                </a:solidFill>
                <a:highlight>
                  <a:srgbClr val="FFFFFF"/>
                </a:highlight>
              </a:rPr>
              <a:t>Tejeshwar Moongilmada Krishnaswamy</a:t>
            </a:r>
            <a:r>
              <a:rPr lang="en" sz="1220">
                <a:solidFill>
                  <a:schemeClr val="dk1"/>
                </a:solidFill>
              </a:rPr>
              <a:t> </a:t>
            </a:r>
            <a:endParaRPr sz="122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AutoNum type="arabicPeriod"/>
            </a:pPr>
            <a:r>
              <a:rPr lang="en" sz="1120">
                <a:solidFill>
                  <a:schemeClr val="dk1"/>
                </a:solidFill>
              </a:rPr>
              <a:t>Sai Krishnan</a:t>
            </a:r>
            <a:endParaRPr sz="11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Web Testing Matters ?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Web applications today are: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Highly interactive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API-driven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Used across multiple devices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Dependent on performance &amp; security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Therefore testing ensures: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Functional correctness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Stability under different conditions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Security of user data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Good user experience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Accessibility for all users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900">
                <a:solidFill>
                  <a:schemeClr val="dk1"/>
                </a:solidFill>
              </a:rPr>
              <a:t>A web application is never complete until it is tested thoroughly.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</p:txBody>
      </p:sp>
      <p:pic>
        <p:nvPicPr>
          <p:cNvPr id="63" name="Google Shape;63;p14" title="Screenshot 2025-12-09 at 12.07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950" y="1152475"/>
            <a:ext cx="4614574" cy="2857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Web Testing ?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</a:rPr>
              <a:t>Web testing is the process of evaluating a web application to make sure it behaves correctly, </a:t>
            </a:r>
            <a:br>
              <a:rPr b="1" lang="en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</a:rPr>
              <a:t>performs efficiently, is secure, and provides a good user experience. Modern applications have many layers frontend UI, backend APIs, databases, authentication, performance so testing ensures all of these work together smoothly.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Web testing verifies: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Features behave as expected</a:t>
            </a:r>
            <a:br>
              <a:rPr b="1" lang="en" sz="900">
                <a:solidFill>
                  <a:schemeClr val="dk1"/>
                </a:solidFill>
              </a:rPr>
            </a:b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Application remains stable</a:t>
            </a:r>
            <a:r>
              <a:rPr lang="en" sz="900">
                <a:solidFill>
                  <a:schemeClr val="dk1"/>
                </a:solidFill>
              </a:rPr>
              <a:t> under different inputs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Performance stays within acceptable limits</a:t>
            </a:r>
            <a:br>
              <a:rPr b="1" lang="en" sz="900">
                <a:solidFill>
                  <a:schemeClr val="dk1"/>
                </a:solidFill>
              </a:rPr>
            </a:b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Accessibility compliance</a:t>
            </a:r>
            <a:br>
              <a:rPr b="1" lang="en" sz="900">
                <a:solidFill>
                  <a:schemeClr val="dk1"/>
                </a:solidFill>
              </a:rPr>
            </a:b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Data accuracy &amp; API reliability</a:t>
            </a:r>
            <a:br>
              <a:rPr b="1"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70" name="Google Shape;70;p15" title="Screenshot 2025-12-09 at 12.10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675" y="1963788"/>
            <a:ext cx="3121172" cy="179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Types of Web Testing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3915300" cy="3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1. Unit Testing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Tests one small function or component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Fastest type of test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Helps prevent small bugs from spreading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2. Integration Testing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Tests how two or more parts work together like multiple components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000">
                <a:solidFill>
                  <a:schemeClr val="dk1"/>
                </a:solidFill>
              </a:rPr>
              <a:t>Example: Form + Validation + API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3. End-to-End Testing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Mimics a real user using the browser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Example: User logs in → adds product → checks out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/>
          </a:p>
        </p:txBody>
      </p:sp>
      <p:sp>
        <p:nvSpPr>
          <p:cNvPr id="77" name="Google Shape;77;p16"/>
          <p:cNvSpPr txBox="1"/>
          <p:nvPr/>
        </p:nvSpPr>
        <p:spPr>
          <a:xfrm>
            <a:off x="4990050" y="1152475"/>
            <a:ext cx="3423900" cy="3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4. API Testing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Tests backend behavior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Ensures server returns correct data and handles errors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5. Performance Testing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Tests page speed and responsiveness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Tools used for Web Testing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Tools we will learn: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1000">
                <a:solidFill>
                  <a:schemeClr val="dk1"/>
                </a:solidFill>
              </a:rPr>
              <a:t>Jest</a:t>
            </a:r>
            <a:r>
              <a:rPr lang="en" sz="1000">
                <a:solidFill>
                  <a:schemeClr val="dk1"/>
                </a:solidFill>
              </a:rPr>
              <a:t> for unit testing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1000">
                <a:solidFill>
                  <a:schemeClr val="dk1"/>
                </a:solidFill>
              </a:rPr>
              <a:t>React Testing Library</a:t>
            </a:r>
            <a:r>
              <a:rPr lang="en" sz="1000">
                <a:solidFill>
                  <a:schemeClr val="dk1"/>
                </a:solidFill>
              </a:rPr>
              <a:t> for component-level integration testing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1000">
                <a:solidFill>
                  <a:schemeClr val="dk1"/>
                </a:solidFill>
              </a:rPr>
              <a:t>Playwright</a:t>
            </a:r>
            <a:r>
              <a:rPr lang="en" sz="1000">
                <a:solidFill>
                  <a:schemeClr val="dk1"/>
                </a:solidFill>
              </a:rPr>
              <a:t> for end-to-end browser automation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1000">
                <a:solidFill>
                  <a:schemeClr val="dk1"/>
                </a:solidFill>
              </a:rPr>
              <a:t>Lighthouse</a:t>
            </a:r>
            <a:r>
              <a:rPr lang="en" sz="1000">
                <a:solidFill>
                  <a:schemeClr val="dk1"/>
                </a:solidFill>
              </a:rPr>
              <a:t> for performance and accessibility audits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1000">
                <a:solidFill>
                  <a:schemeClr val="dk1"/>
                </a:solidFill>
              </a:rPr>
              <a:t>Postman + Newman</a:t>
            </a:r>
            <a:r>
              <a:rPr lang="en" sz="1000">
                <a:solidFill>
                  <a:schemeClr val="dk1"/>
                </a:solidFill>
              </a:rPr>
              <a:t> for API testing and server-side validations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750" y="256675"/>
            <a:ext cx="2269000" cy="190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000" y="2360175"/>
            <a:ext cx="2298750" cy="190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React Application Setup</a:t>
            </a:r>
            <a:endParaRPr b="1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540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93211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For the tutorial, We have created a React application using Create React App.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React works internally with concepts like components, state, props, and the Virtual DOM </a:t>
            </a:r>
            <a:r>
              <a:rPr lang="en" sz="1100">
                <a:solidFill>
                  <a:schemeClr val="dk1"/>
                </a:solidFill>
              </a:rPr>
              <a:t>were</a:t>
            </a:r>
            <a:r>
              <a:rPr lang="en" sz="1100">
                <a:solidFill>
                  <a:schemeClr val="dk1"/>
                </a:solidFill>
              </a:rPr>
              <a:t> React updates only what has changed instead of re-rendering the whole page.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project structure, especially the </a:t>
            </a:r>
            <a:r>
              <a:rPr b="1" lang="en" sz="1100">
                <a:solidFill>
                  <a:srgbClr val="188038"/>
                </a:solidFill>
              </a:rPr>
              <a:t>package.json</a:t>
            </a:r>
            <a:r>
              <a:rPr lang="en" sz="1100">
                <a:solidFill>
                  <a:schemeClr val="dk1"/>
                </a:solidFill>
              </a:rPr>
              <a:t> file, which manages dependencies and build scripts like </a:t>
            </a:r>
            <a:r>
              <a:rPr b="1" lang="en" sz="1100">
                <a:solidFill>
                  <a:srgbClr val="188038"/>
                </a:solidFill>
              </a:rPr>
              <a:t>npm</a:t>
            </a:r>
            <a:r>
              <a:rPr lang="en" sz="1100">
                <a:solidFill>
                  <a:srgbClr val="188038"/>
                </a:solidFill>
              </a:rPr>
              <a:t> </a:t>
            </a:r>
            <a:r>
              <a:rPr b="1" lang="en" sz="1100">
                <a:solidFill>
                  <a:srgbClr val="188038"/>
                </a:solidFill>
              </a:rPr>
              <a:t>start</a:t>
            </a:r>
            <a:r>
              <a:rPr b="1"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rgbClr val="188038"/>
                </a:solidFill>
              </a:rPr>
              <a:t>npm test</a:t>
            </a:r>
            <a:r>
              <a:rPr b="1" lang="en" sz="1100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rgbClr val="188038"/>
                </a:solidFill>
              </a:rPr>
              <a:t>npm run build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Screenshot 2025-12-09 at 12.31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800" y="1017725"/>
            <a:ext cx="2577625" cy="24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E-COMMERCE DEMO APPLICATION</a:t>
            </a:r>
            <a:endParaRPr b="1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2820300" cy="3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00"/>
                </a:solidFill>
                <a:highlight>
                  <a:srgbClr val="FF9900"/>
                </a:highlight>
              </a:rPr>
              <a:t>Features implemented:</a:t>
            </a:r>
            <a:endParaRPr b="1" sz="1000">
              <a:solidFill>
                <a:srgbClr val="000000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  <a:t>Product listing from FakeStoreAPI</a:t>
            </a:r>
            <a:b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</a:b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  <a:t>Category-based filtering</a:t>
            </a:r>
            <a:b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</a:b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  <a:t>Product details modal</a:t>
            </a:r>
            <a:b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</a:b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  <a:t>Add-to-cart functionality</a:t>
            </a:r>
            <a:b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</a:b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  <a:t>Cart drawer with totals</a:t>
            </a:r>
            <a:b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</a:b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  <a:t>Login modal</a:t>
            </a:r>
            <a:br>
              <a:rPr lang="en" sz="1000">
                <a:solidFill>
                  <a:srgbClr val="000000"/>
                </a:solidFill>
                <a:highlight>
                  <a:srgbClr val="FFFFFF"/>
                </a:highlight>
              </a:rPr>
            </a:b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99" name="Google Shape;99;p19" title="Screenshot 2025-12-09 at 12.35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200" y="2937950"/>
            <a:ext cx="2448574" cy="20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200" y="816625"/>
            <a:ext cx="2677177" cy="20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3264775" y="1152475"/>
            <a:ext cx="222960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Why this application?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Covers real user scenarios</a:t>
            </a:r>
            <a:b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UI + API integration</a:t>
            </a:r>
            <a:b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Multiple states, modals, interactions</a:t>
            </a:r>
            <a:b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Perfect for demonstrating all testing types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Testing - Client Side (Jest + RTL)</a:t>
            </a:r>
            <a:endParaRPr b="1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430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Jest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Jest is a </a:t>
            </a:r>
            <a:r>
              <a:rPr b="1" lang="en" sz="1000">
                <a:solidFill>
                  <a:schemeClr val="dk1"/>
                </a:solidFill>
              </a:rPr>
              <a:t>JavaScript testing framework</a:t>
            </a:r>
            <a:r>
              <a:rPr lang="en" sz="1000">
                <a:solidFill>
                  <a:schemeClr val="dk1"/>
                </a:solidFill>
              </a:rPr>
              <a:t> used for unit and integration testing.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It comes bundled with React projects (Create React App).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Provides tools like: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rgbClr val="188038"/>
                </a:solidFill>
              </a:rPr>
              <a:t>test()</a:t>
            </a:r>
            <a:r>
              <a:rPr lang="en" sz="1000">
                <a:solidFill>
                  <a:schemeClr val="dk1"/>
                </a:solidFill>
              </a:rPr>
              <a:t> — define a test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rgbClr val="188038"/>
                </a:solidFill>
              </a:rPr>
              <a:t>expect()</a:t>
            </a:r>
            <a:r>
              <a:rPr lang="en" sz="1000">
                <a:solidFill>
                  <a:schemeClr val="dk1"/>
                </a:solidFill>
              </a:rPr>
              <a:t> — make assertions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rgbClr val="188038"/>
                </a:solidFill>
              </a:rPr>
              <a:t>jest.fn()</a:t>
            </a:r>
            <a:r>
              <a:rPr lang="en" sz="1000">
                <a:solidFill>
                  <a:schemeClr val="dk1"/>
                </a:solidFill>
              </a:rPr>
              <a:t> — create mocks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Automatic test running and reporting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Jest is </a:t>
            </a:r>
            <a:r>
              <a:rPr b="1" lang="en" sz="1000">
                <a:solidFill>
                  <a:schemeClr val="dk1"/>
                </a:solidFill>
              </a:rPr>
              <a:t>fast, reliable, and ideal for testing logic and component behavior</a:t>
            </a:r>
            <a:r>
              <a:rPr lang="en" sz="1000">
                <a:solidFill>
                  <a:schemeClr val="dk1"/>
                </a:solidFill>
              </a:rPr>
              <a:t>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8" name="Google Shape;108;p20"/>
          <p:cNvSpPr txBox="1"/>
          <p:nvPr/>
        </p:nvSpPr>
        <p:spPr>
          <a:xfrm>
            <a:off x="4844100" y="1152475"/>
            <a:ext cx="3550200" cy="27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React Testing Library (RTL)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RTL is a </a:t>
            </a:r>
            <a:r>
              <a:rPr b="1" lang="en" sz="1000">
                <a:solidFill>
                  <a:schemeClr val="dk1"/>
                </a:solidFill>
              </a:rPr>
              <a:t>library designed to test React components the way a real user interacts with them</a:t>
            </a:r>
            <a:r>
              <a:rPr lang="en" sz="1000">
                <a:solidFill>
                  <a:schemeClr val="dk1"/>
                </a:solidFill>
              </a:rPr>
              <a:t>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Focuses on, Finding elements by text, role, label and Simulating user behavior (clicking, typing)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RTL does NOT test implementation details it tests </a:t>
            </a:r>
            <a:r>
              <a:rPr b="1" lang="en" sz="1000">
                <a:solidFill>
                  <a:schemeClr val="dk1"/>
                </a:solidFill>
              </a:rPr>
              <a:t>visible UI behavior</a:t>
            </a:r>
            <a:r>
              <a:rPr lang="en" sz="1000">
                <a:solidFill>
                  <a:schemeClr val="dk1"/>
                </a:solidFill>
              </a:rPr>
              <a:t>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Works together with Jest to produce complete UI-level tests.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Pros of using Jest + RTL Together</a:t>
            </a:r>
            <a:endParaRPr b="1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439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highlight>
                  <a:srgbClr val="FF9900"/>
                </a:highlight>
              </a:rPr>
              <a:t>Jest</a:t>
            </a:r>
            <a:r>
              <a:rPr lang="en" sz="900">
                <a:solidFill>
                  <a:srgbClr val="000000"/>
                </a:solidFill>
              </a:rPr>
              <a:t> handles the test logic, assertions, mocks, and test runner. </a:t>
            </a:r>
            <a:r>
              <a:rPr b="1" lang="en" sz="900">
                <a:solidFill>
                  <a:srgbClr val="000000"/>
                </a:solidFill>
                <a:highlight>
                  <a:srgbClr val="FF9900"/>
                </a:highlight>
              </a:rPr>
              <a:t>RTL</a:t>
            </a:r>
            <a:r>
              <a:rPr lang="en" sz="900">
                <a:solidFill>
                  <a:srgbClr val="000000"/>
                </a:solidFill>
              </a:rPr>
              <a:t> handles </a:t>
            </a:r>
            <a:r>
              <a:rPr b="1" lang="en" sz="900">
                <a:solidFill>
                  <a:srgbClr val="000000"/>
                </a:solidFill>
              </a:rPr>
              <a:t>DOM rendering</a:t>
            </a:r>
            <a:r>
              <a:rPr lang="en" sz="900">
                <a:solidFill>
                  <a:srgbClr val="000000"/>
                </a:solidFill>
              </a:rPr>
              <a:t> and </a:t>
            </a:r>
            <a:r>
              <a:rPr b="1" lang="en" sz="900">
                <a:solidFill>
                  <a:srgbClr val="000000"/>
                </a:solidFill>
              </a:rPr>
              <a:t>user simulation</a:t>
            </a:r>
            <a:r>
              <a:rPr lang="en" sz="900">
                <a:solidFill>
                  <a:srgbClr val="000000"/>
                </a:solidFill>
              </a:rPr>
              <a:t>.</a:t>
            </a:r>
            <a:br>
              <a:rPr lang="en" sz="900">
                <a:solidFill>
                  <a:srgbClr val="000000"/>
                </a:solidFill>
              </a:rPr>
            </a:br>
            <a:br>
              <a:rPr lang="en" sz="900">
                <a:solidFill>
                  <a:srgbClr val="000000"/>
                </a:solidFill>
              </a:rPr>
            </a:br>
            <a:r>
              <a:rPr lang="en" sz="900">
                <a:solidFill>
                  <a:srgbClr val="000000"/>
                </a:solidFill>
              </a:rPr>
              <a:t>Combined, they help us test:</a:t>
            </a:r>
            <a:endParaRPr sz="900">
              <a:solidFill>
                <a:srgbClr val="000000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" sz="900">
                <a:solidFill>
                  <a:srgbClr val="000000"/>
                </a:solidFill>
              </a:rPr>
              <a:t>Component output</a:t>
            </a:r>
            <a:br>
              <a:rPr lang="en" sz="900">
                <a:solidFill>
                  <a:srgbClr val="000000"/>
                </a:solidFill>
              </a:rPr>
            </a:br>
            <a:endParaRPr sz="900">
              <a:solidFill>
                <a:srgbClr val="000000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" sz="900">
                <a:solidFill>
                  <a:srgbClr val="000000"/>
                </a:solidFill>
              </a:rPr>
              <a:t>User interactions</a:t>
            </a:r>
            <a:br>
              <a:rPr lang="en" sz="900">
                <a:solidFill>
                  <a:srgbClr val="000000"/>
                </a:solidFill>
              </a:rPr>
            </a:br>
            <a:endParaRPr sz="900">
              <a:solidFill>
                <a:srgbClr val="000000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" sz="900">
                <a:solidFill>
                  <a:srgbClr val="000000"/>
                </a:solidFill>
              </a:rPr>
              <a:t>Conditional rendering</a:t>
            </a:r>
            <a:br>
              <a:rPr lang="en" sz="900">
                <a:solidFill>
                  <a:srgbClr val="000000"/>
                </a:solidFill>
              </a:rPr>
            </a:br>
            <a:endParaRPr sz="900">
              <a:solidFill>
                <a:srgbClr val="000000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" sz="900">
                <a:solidFill>
                  <a:srgbClr val="000000"/>
                </a:solidFill>
              </a:rPr>
              <a:t>State changes</a:t>
            </a:r>
            <a:br>
              <a:rPr lang="en" sz="900">
                <a:solidFill>
                  <a:srgbClr val="000000"/>
                </a:solidFill>
              </a:rPr>
            </a:br>
            <a:endParaRPr sz="900">
              <a:solidFill>
                <a:srgbClr val="000000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" sz="900">
                <a:solidFill>
                  <a:srgbClr val="000000"/>
                </a:solidFill>
              </a:rPr>
              <a:t>API-driven UI updates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</p:txBody>
      </p:sp>
      <p:pic>
        <p:nvPicPr>
          <p:cNvPr id="115" name="Google Shape;115;p21" title="Screenshot 2025-12-09 at 12.4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200" y="1466475"/>
            <a:ext cx="3650949" cy="15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End-to-End Testing (Playwright)</a:t>
            </a:r>
            <a:endParaRPr b="1"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402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highlight>
                  <a:srgbClr val="FF9900"/>
                </a:highlight>
              </a:rPr>
              <a:t>Playwright</a:t>
            </a:r>
            <a:r>
              <a:rPr lang="en" sz="900">
                <a:solidFill>
                  <a:schemeClr val="dk1"/>
                </a:solidFill>
              </a:rPr>
              <a:t> is a </a:t>
            </a:r>
            <a:r>
              <a:rPr b="1" lang="en" sz="900">
                <a:solidFill>
                  <a:schemeClr val="dk1"/>
                </a:solidFill>
              </a:rPr>
              <a:t>modern end-to-end (E2E) testing framework</a:t>
            </a:r>
            <a:r>
              <a:rPr lang="en" sz="900">
                <a:solidFill>
                  <a:schemeClr val="dk1"/>
                </a:solidFill>
              </a:rPr>
              <a:t> created by Microsoft.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It make use of </a:t>
            </a:r>
            <a:r>
              <a:rPr b="1" lang="en" sz="900">
                <a:solidFill>
                  <a:schemeClr val="dk1"/>
                </a:solidFill>
              </a:rPr>
              <a:t>real browsers</a:t>
            </a:r>
            <a:r>
              <a:rPr lang="en" sz="900">
                <a:solidFill>
                  <a:schemeClr val="dk1"/>
                </a:solidFill>
              </a:rPr>
              <a:t> : Chromium, Firefox and WebKit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It can simulate everything a real user does like opening pages, filling out a form.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It supports </a:t>
            </a:r>
            <a:r>
              <a:rPr b="1" lang="en" sz="900">
                <a:solidFill>
                  <a:schemeClr val="dk1"/>
                </a:solidFill>
              </a:rPr>
              <a:t>auto-waiting</a:t>
            </a:r>
            <a:r>
              <a:rPr lang="en" sz="900">
                <a:solidFill>
                  <a:schemeClr val="dk1"/>
                </a:solidFill>
              </a:rPr>
              <a:t>, meaning tests wait for UI changes.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Unit + integration tests (Jest + RTL) only test components in isolation.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But </a:t>
            </a:r>
            <a:r>
              <a:rPr b="1" lang="en" sz="900">
                <a:solidFill>
                  <a:schemeClr val="dk1"/>
                </a:solidFill>
              </a:rPr>
              <a:t>they do not test the full application flow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Playwright is needed to verify: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Does the whole app work correctly from the user's perspective?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Do frontend + backend + UI interactions all work together?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400" y="1196650"/>
            <a:ext cx="3687250" cy="206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Testing - Server Side (Postman + Newman)</a:t>
            </a:r>
            <a:endParaRPr b="1"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45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API Testing checks whether backend endpoints return the </a:t>
            </a:r>
            <a:r>
              <a:rPr b="1" lang="en" sz="1000">
                <a:solidFill>
                  <a:schemeClr val="dk1"/>
                </a:solidFill>
              </a:rPr>
              <a:t>correct data</a:t>
            </a:r>
            <a:r>
              <a:rPr lang="en" sz="1000">
                <a:solidFill>
                  <a:schemeClr val="dk1"/>
                </a:solidFill>
              </a:rPr>
              <a:t>, with the </a:t>
            </a:r>
            <a:r>
              <a:rPr b="1" lang="en" sz="1000">
                <a:solidFill>
                  <a:schemeClr val="dk1"/>
                </a:solidFill>
              </a:rPr>
              <a:t>correct status codes</a:t>
            </a:r>
            <a:r>
              <a:rPr lang="en" sz="1000">
                <a:solidFill>
                  <a:schemeClr val="dk1"/>
                </a:solidFill>
              </a:rPr>
              <a:t>, in </a:t>
            </a:r>
            <a:r>
              <a:rPr b="1" lang="en" sz="1000">
                <a:solidFill>
                  <a:schemeClr val="dk1"/>
                </a:solidFill>
              </a:rPr>
              <a:t>valid formats</a:t>
            </a:r>
            <a:r>
              <a:rPr lang="en" sz="1000">
                <a:solidFill>
                  <a:schemeClr val="dk1"/>
                </a:solidFill>
              </a:rPr>
              <a:t>, and within </a:t>
            </a:r>
            <a:r>
              <a:rPr b="1" lang="en" sz="1000">
                <a:solidFill>
                  <a:schemeClr val="dk1"/>
                </a:solidFill>
              </a:rPr>
              <a:t>acceptable response times</a:t>
            </a:r>
            <a:r>
              <a:rPr lang="en" sz="1000">
                <a:solidFill>
                  <a:schemeClr val="dk1"/>
                </a:solidFill>
              </a:rPr>
              <a:t>. Unlike UI tests, API tests interact </a:t>
            </a:r>
            <a:r>
              <a:rPr b="1" lang="en" sz="1000">
                <a:solidFill>
                  <a:schemeClr val="dk1"/>
                </a:solidFill>
              </a:rPr>
              <a:t>directly with the server</a:t>
            </a:r>
            <a:r>
              <a:rPr lang="en" sz="1000">
                <a:solidFill>
                  <a:schemeClr val="dk1"/>
                </a:solidFill>
              </a:rPr>
              <a:t>, making them faster and more reliable. Ensures frontend and backend integrate smoothly.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Newman is </a:t>
            </a:r>
            <a:r>
              <a:rPr b="1" lang="en" sz="1000">
                <a:solidFill>
                  <a:schemeClr val="dk1"/>
                </a:solidFill>
              </a:rPr>
              <a:t>Postman’s command-line runner</a:t>
            </a:r>
            <a:r>
              <a:rPr lang="en" sz="1000">
                <a:solidFill>
                  <a:schemeClr val="dk1"/>
                </a:solidFill>
              </a:rPr>
              <a:t>.It allows: Running Postman tests automatically from terminal, Adding API tests to CI/CD pipelines, Generating HTML reports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Our Test covers FakeStore API Endpoints for : 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Fetch All Products, Product by ID and User Login Auth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475" y="1152475"/>
            <a:ext cx="3112376" cy="196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Application - Performance &amp; Accessibility</a:t>
            </a:r>
            <a:endParaRPr b="1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410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Lighthouse</a:t>
            </a:r>
            <a:r>
              <a:rPr lang="en" sz="1000">
                <a:solidFill>
                  <a:schemeClr val="dk1"/>
                </a:solidFill>
              </a:rPr>
              <a:t> is an </a:t>
            </a:r>
            <a:r>
              <a:rPr b="1" lang="en" sz="1000">
                <a:solidFill>
                  <a:schemeClr val="dk1"/>
                </a:solidFill>
              </a:rPr>
              <a:t>automated auditing tool</a:t>
            </a:r>
            <a:r>
              <a:rPr lang="en" sz="1000">
                <a:solidFill>
                  <a:schemeClr val="dk1"/>
                </a:solidFill>
              </a:rPr>
              <a:t> built into Chrome that evaluates the </a:t>
            </a:r>
            <a:r>
              <a:rPr i="1" lang="en" sz="1000">
                <a:solidFill>
                  <a:schemeClr val="dk1"/>
                </a:solidFill>
              </a:rPr>
              <a:t>quality</a:t>
            </a:r>
            <a:r>
              <a:rPr lang="en" sz="1000">
                <a:solidFill>
                  <a:schemeClr val="dk1"/>
                </a:solidFill>
              </a:rPr>
              <a:t> of a web application across: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Performance</a:t>
            </a:r>
            <a:br>
              <a:rPr b="1" lang="en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Accessibility</a:t>
            </a:r>
            <a:br>
              <a:rPr b="1" lang="en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SEO</a:t>
            </a:r>
            <a:br>
              <a:rPr b="1" lang="en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Best Practices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It helps developers understand </a:t>
            </a:r>
            <a:r>
              <a:rPr b="1" lang="en" sz="1000">
                <a:solidFill>
                  <a:schemeClr val="dk1"/>
                </a:solidFill>
              </a:rPr>
              <a:t>how real users experience the site</a:t>
            </a:r>
            <a:r>
              <a:rPr lang="en" sz="1000">
                <a:solidFill>
                  <a:schemeClr val="dk1"/>
                </a:solidFill>
              </a:rPr>
              <a:t> and provides actionable suggestions for improvement.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6" name="Google Shape;136;p24"/>
          <p:cNvSpPr txBox="1"/>
          <p:nvPr/>
        </p:nvSpPr>
        <p:spPr>
          <a:xfrm>
            <a:off x="4280025" y="1152475"/>
            <a:ext cx="2647500" cy="3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Important metrics: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LCP (Largest Contentful Paint)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Measures how long it takes for the largest visible element (image/header) to load.</a:t>
            </a:r>
            <a:br>
              <a:rPr i="1" lang="en" sz="1000">
                <a:solidFill>
                  <a:schemeClr val="dk1"/>
                </a:solidFill>
              </a:rPr>
            </a:br>
            <a:endParaRPr i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TBT (Total Blocking Time)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Measures how long the main thread is blocked by heavy JS, delaying user interaction.</a:t>
            </a:r>
            <a:br>
              <a:rPr i="1" lang="en" sz="1000">
                <a:solidFill>
                  <a:schemeClr val="dk1"/>
                </a:solidFill>
              </a:rPr>
            </a:br>
            <a:endParaRPr i="1"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950" y="1152475"/>
            <a:ext cx="2257190" cy="197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Best Practices for Web Testing</a:t>
            </a:r>
            <a:endParaRPr b="1"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Follow the Testing Pyramid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Use </a:t>
            </a:r>
            <a:r>
              <a:rPr b="1" lang="en" sz="900">
                <a:solidFill>
                  <a:schemeClr val="dk1"/>
                </a:solidFill>
              </a:rPr>
              <a:t>many small Unit Tests</a:t>
            </a:r>
            <a:r>
              <a:rPr lang="en" sz="900">
                <a:solidFill>
                  <a:schemeClr val="dk1"/>
                </a:solidFill>
              </a:rPr>
              <a:t>, fewer Integration Tests, and only a few E2E Tests.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Keeps the test suite </a:t>
            </a:r>
            <a:r>
              <a:rPr b="1" lang="en" sz="900">
                <a:solidFill>
                  <a:schemeClr val="dk1"/>
                </a:solidFill>
              </a:rPr>
              <a:t>fast, reliable, and cost-effective</a:t>
            </a:r>
            <a:r>
              <a:rPr lang="en" sz="900">
                <a:solidFill>
                  <a:schemeClr val="dk1"/>
                </a:solidFill>
              </a:rPr>
              <a:t>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Unit tests → catch logic bugs early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Integration tests → verify modules work together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E2E tests → validate complete user flows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Write Tests Early ("Shift-Left Testing")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Start testing </a:t>
            </a:r>
            <a:r>
              <a:rPr b="1" lang="en" sz="900">
                <a:solidFill>
                  <a:schemeClr val="dk1"/>
                </a:solidFill>
              </a:rPr>
              <a:t>while building features</a:t>
            </a:r>
            <a:r>
              <a:rPr lang="en" sz="900">
                <a:solidFill>
                  <a:schemeClr val="dk1"/>
                </a:solidFill>
              </a:rPr>
              <a:t>, not after.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Helps catch bugs before they reach production.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44" name="Google Shape;144;p25"/>
          <p:cNvSpPr txBox="1"/>
          <p:nvPr/>
        </p:nvSpPr>
        <p:spPr>
          <a:xfrm>
            <a:off x="4897150" y="1152475"/>
            <a:ext cx="359670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Keep Tests Independent &amp; Isolated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Tests should not depend on each other.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Use </a:t>
            </a:r>
            <a:r>
              <a:rPr b="1" lang="en" sz="900">
                <a:solidFill>
                  <a:schemeClr val="dk1"/>
                </a:solidFill>
              </a:rPr>
              <a:t>beforeEach / afterEach</a:t>
            </a:r>
            <a:r>
              <a:rPr lang="en" sz="900">
                <a:solidFill>
                  <a:schemeClr val="dk1"/>
                </a:solidFill>
              </a:rPr>
              <a:t> to reset data.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Avoid shared mutable state → prevents unpredictable failures.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Mock External Dependencies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Replace network calls, databases, or services using </a:t>
            </a:r>
            <a:r>
              <a:rPr b="1" lang="en" sz="900">
                <a:solidFill>
                  <a:schemeClr val="dk1"/>
                </a:solidFill>
              </a:rPr>
              <a:t>Jest mocks</a:t>
            </a:r>
            <a:r>
              <a:rPr lang="en" sz="900">
                <a:solidFill>
                  <a:schemeClr val="dk1"/>
                </a:solidFill>
              </a:rPr>
              <a:t>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Allows tests to run offline and instantly.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Prevents failures caused by API downtime.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Best Practices for Web Testing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Run Tests in CI/CD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Automate testing on every push or pull request.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Prevents broken code from being merged.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Use GitHub Actions, Jenkins, GitLab CI, etc.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9900"/>
                </a:highlight>
              </a:rPr>
              <a:t>Track Test Coverage Wisely</a:t>
            </a:r>
            <a:endParaRPr b="1" sz="10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Use coverage tools to identify untested areas.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Don’t chase </a:t>
            </a:r>
            <a:r>
              <a:rPr b="1" lang="en" sz="900">
                <a:solidFill>
                  <a:schemeClr val="dk1"/>
                </a:solidFill>
              </a:rPr>
              <a:t>100% coverage</a:t>
            </a:r>
            <a:r>
              <a:rPr lang="en" sz="900">
                <a:solidFill>
                  <a:schemeClr val="dk1"/>
                </a:solidFill>
              </a:rPr>
              <a:t>—focus on critical logic &amp; user flows.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900">
                <a:solidFill>
                  <a:schemeClr val="dk1"/>
                </a:solidFill>
              </a:rPr>
              <a:t>Coverage is a </a:t>
            </a:r>
            <a:r>
              <a:rPr b="1" lang="en" sz="900">
                <a:solidFill>
                  <a:schemeClr val="dk1"/>
                </a:solidFill>
              </a:rPr>
              <a:t>guide</a:t>
            </a:r>
            <a:r>
              <a:rPr lang="en" sz="900">
                <a:solidFill>
                  <a:schemeClr val="dk1"/>
                </a:solidFill>
              </a:rPr>
              <a:t>, not a success metric.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